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2074EE-3C33-4214-B552-2DC371B700F7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9EB27-1FDB-45DC-954E-189D62B97E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14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교육계획안 </a:t>
            </a:r>
            <a:r>
              <a:rPr lang="en-US" altLang="ko-KR"/>
              <a:t>INTRO(</a:t>
            </a:r>
            <a:r>
              <a:rPr lang="ko-KR" altLang="en-US"/>
              <a:t>약 </a:t>
            </a:r>
            <a:r>
              <a:rPr lang="en-US" altLang="ko-KR"/>
              <a:t>10</a:t>
            </a:r>
            <a:r>
              <a:rPr lang="ko-KR" altLang="en-US"/>
              <a:t>분</a:t>
            </a:r>
            <a:r>
              <a:rPr lang="en-US" altLang="ko-KR"/>
              <a:t>)</a:t>
            </a:r>
            <a:r>
              <a:rPr lang="ko-KR" altLang="en-US"/>
              <a:t>의 시작</a:t>
            </a:r>
            <a:r>
              <a:rPr lang="en-US" altLang="ko-KR"/>
              <a:t>. </a:t>
            </a:r>
            <a:r>
              <a:rPr lang="ko-KR" altLang="en-US"/>
              <a:t>대학도서관 실무에서 </a:t>
            </a:r>
            <a:r>
              <a:rPr lang="en-US" altLang="ko-KR"/>
              <a:t>AI</a:t>
            </a:r>
            <a:r>
              <a:rPr lang="ko-KR" altLang="en-US"/>
              <a:t>에게 맡겨볼 수 있는 일을 탐색하는 교육임을 소개한다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906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요청된 기능명을 중심으로 구성한 검토용 슬라이드</a:t>
            </a:r>
            <a:r>
              <a:rPr lang="en-US" altLang="ko-KR"/>
              <a:t>. Astra, Work </a:t>
            </a:r>
            <a:r>
              <a:rPr lang="ko-KR" altLang="en-US"/>
              <a:t>등의 구체적인 정의와 제공 조건은 본문에 추가하지 않았다</a:t>
            </a:r>
            <a:r>
              <a:rPr lang="en-US" altLang="ko-KR"/>
              <a:t>. </a:t>
            </a:r>
            <a:r>
              <a:rPr lang="ko-KR" altLang="en-US"/>
              <a:t>발표 전 최신 공식 정보로 기능명 및 설명을 확인하여 수정할 예정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954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 슬라이드의 기능을 하나씩 짚으며 사용 경험을 묻는다</a:t>
            </a:r>
            <a:r>
              <a:rPr lang="en-US" altLang="ko-KR"/>
              <a:t>. </a:t>
            </a:r>
            <a:r>
              <a:rPr lang="ko-KR" altLang="en-US"/>
              <a:t>써봤다 </a:t>
            </a:r>
            <a:r>
              <a:rPr lang="en-US" altLang="ko-KR"/>
              <a:t>/ </a:t>
            </a:r>
            <a:r>
              <a:rPr lang="ko-KR" altLang="en-US"/>
              <a:t>들어봤다 </a:t>
            </a:r>
            <a:r>
              <a:rPr lang="en-US" altLang="ko-KR"/>
              <a:t>/ </a:t>
            </a:r>
            <a:r>
              <a:rPr lang="ko-KR" altLang="en-US"/>
              <a:t>처음 본다 중 해당하는 반응에 손을 들도록 유도한다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982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핵심 메시지</a:t>
            </a:r>
            <a:r>
              <a:rPr lang="en-US" altLang="ko-KR"/>
              <a:t>: </a:t>
            </a:r>
            <a:r>
              <a:rPr lang="ko-KR" altLang="en-US"/>
              <a:t>질문하는 </a:t>
            </a:r>
            <a:r>
              <a:rPr lang="en-US" altLang="ko-KR"/>
              <a:t>AI → </a:t>
            </a:r>
            <a:r>
              <a:rPr lang="ko-KR" altLang="en-US"/>
              <a:t>일하는 </a:t>
            </a:r>
            <a:r>
              <a:rPr lang="en-US" altLang="ko-KR"/>
              <a:t>AI. </a:t>
            </a:r>
            <a:r>
              <a:rPr lang="ko-KR" altLang="en-US"/>
              <a:t>답변을 받는 데서 나아가</a:t>
            </a:r>
            <a:r>
              <a:rPr lang="en-US" altLang="ko-KR"/>
              <a:t>, </a:t>
            </a:r>
            <a:r>
              <a:rPr lang="ko-KR" altLang="en-US"/>
              <a:t>작업을 지시하고 파일을 확인하며 결과물을 만드는 흐름으로 활용 범위가 확장됨을 설명한다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419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비개발자가 자연어로 작업을 지시하는 관점에서 소개한다</a:t>
            </a:r>
            <a:r>
              <a:rPr lang="en-US" altLang="ko-KR"/>
              <a:t>. Desktop</a:t>
            </a:r>
            <a:r>
              <a:rPr lang="ko-KR" altLang="en-US"/>
              <a:t>과 </a:t>
            </a:r>
            <a:r>
              <a:rPr lang="en-US" altLang="ko-KR"/>
              <a:t>Codex</a:t>
            </a:r>
            <a:r>
              <a:rPr lang="ko-KR" altLang="en-US"/>
              <a:t>의 구체적인 제공 기능 및 환경은 실제 시연 화면에 맞춰 설명한다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203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교육계획안의 실습 순서를 안내한다</a:t>
            </a:r>
            <a:r>
              <a:rPr lang="en-US" altLang="ko-KR"/>
              <a:t>: </a:t>
            </a:r>
            <a:r>
              <a:rPr lang="ko-KR" altLang="en-US"/>
              <a:t>텍스트 파일 정리 → </a:t>
            </a:r>
            <a:r>
              <a:rPr lang="en-US" altLang="ko-KR"/>
              <a:t>Excel </a:t>
            </a:r>
            <a:r>
              <a:rPr lang="ko-KR" altLang="en-US"/>
              <a:t>통합</a:t>
            </a:r>
            <a:r>
              <a:rPr lang="en-US" altLang="ko-KR"/>
              <a:t>·</a:t>
            </a:r>
            <a:r>
              <a:rPr lang="ko-KR" altLang="en-US"/>
              <a:t>집계</a:t>
            </a:r>
            <a:r>
              <a:rPr lang="en-US" altLang="ko-KR"/>
              <a:t>·</a:t>
            </a:r>
            <a:r>
              <a:rPr lang="ko-KR" altLang="en-US"/>
              <a:t>그래프 → 웹사이트 제작</a:t>
            </a:r>
            <a:r>
              <a:rPr lang="en-US" altLang="ko-KR"/>
              <a:t>·</a:t>
            </a:r>
            <a:r>
              <a:rPr lang="ko-KR" altLang="en-US"/>
              <a:t>수정</a:t>
            </a:r>
            <a:r>
              <a:rPr lang="en-US" altLang="ko-KR"/>
              <a:t>. </a:t>
            </a:r>
            <a:r>
              <a:rPr lang="ko-KR" altLang="en-US"/>
              <a:t>이 </a:t>
            </a:r>
            <a:r>
              <a:rPr lang="en-US" altLang="ko-KR"/>
              <a:t>6</a:t>
            </a:r>
            <a:r>
              <a:rPr lang="ko-KR" altLang="en-US"/>
              <a:t>장으로 </a:t>
            </a:r>
            <a:r>
              <a:rPr lang="en-US" altLang="ko-KR"/>
              <a:t>INTRO</a:t>
            </a:r>
            <a:r>
              <a:rPr lang="ko-KR" altLang="en-US"/>
              <a:t>를 마치며</a:t>
            </a:r>
            <a:r>
              <a:rPr lang="en-US" altLang="ko-KR"/>
              <a:t>, </a:t>
            </a:r>
            <a:r>
              <a:rPr lang="ko-KR" altLang="en-US"/>
              <a:t>다음부터 실제 화면 시연으로 전환한다</a:t>
            </a:r>
            <a:r>
              <a:rPr lang="en-US" altLang="ko-KR"/>
              <a:t>. </a:t>
            </a:r>
            <a:r>
              <a:rPr lang="ko-KR" altLang="en-US"/>
              <a:t>이번 파일에는 </a:t>
            </a:r>
            <a:r>
              <a:rPr lang="en-US" altLang="ko-KR"/>
              <a:t>PART 1 </a:t>
            </a:r>
            <a:r>
              <a:rPr lang="ko-KR" altLang="en-US"/>
              <a:t>이후 슬라이드를 포함하지 않는다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9EB27-1FDB-45DC-954E-189D62B97E3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958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4B0C2-80B3-4D22-A88C-A23009356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C121CC-DCE2-4350-A35A-D0A41954D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8E0F12-6278-46CE-A119-B26ADF0F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0796D-82FB-422D-BFC5-CC623C281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408FE5-0A9D-45CB-BC85-11505B30A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753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A3781-A109-45DE-940F-1006D642D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F97C70-6D50-4C16-8624-8910814B1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351B83-9422-4DE9-BFDB-4F5D5474A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C90B51-732F-4BD5-9BA8-51761F44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2E87FB-1F82-42AA-A2E3-DB374A0D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76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A4E8C1-1D36-40F8-B3A3-9E8C2AD2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DE158-8F5A-44E7-A418-3FCCDD4F1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7ED3FC-3011-448D-A37E-7D66F126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3899EA-889E-4917-ADB7-30966E9F3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F504E7-F7C0-4DBA-BE14-D08FA7EF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887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E59CD-0ABF-4AEB-826C-E2857CF4E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61846A-7335-4084-B413-80D7E5619D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DB34DF8-DD20-42D3-8396-D693B1478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928485-B958-4C82-B520-D87500FE5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BDACF6-09EC-416F-93B3-17C931B8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35A05CD-27CE-420F-A63F-95CF9E8A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40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8E1B3-9269-4475-91A6-F7979AE6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A32C6F-EADA-462D-865F-15693F4C8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5B124D-0CD5-4F71-A226-FD18AB932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F5BFC0-8631-49CC-BFC4-B1C7F01314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619587-7FA4-49BE-89F9-7E07C0958B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38DF0A-4F1C-4000-9E14-CE3577744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FAD85A-E3A5-4DF8-A0E9-2B39DF730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5F99EF-77F4-4808-A319-3E976798C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6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ACFD0-0E6B-48D1-B548-DA7CB98F3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2D42A2-9300-4EF8-95E4-BF7A3CE9B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967C848-7DCB-45B8-B184-9C331D55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605B7B-AD20-4FBE-8A8D-794BB3CF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42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2AE091-3B4A-46F8-BAB4-1BAC0CF53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9A8298-2EC4-4DBF-A160-0DF459AFD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5A41B2-DD48-4213-9D87-E9D68DB64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37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6F932-3C1C-4756-9CD1-08EDAF1CD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D9CA85-C55C-46F0-B83A-8B4571EDB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541BB0-C28D-408B-9E3A-F73A3F363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8E27A9-D2C3-4C30-B944-DFD1DA5F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76766E-9861-4CA0-8280-01CE08523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C510FF-50EE-42D3-8781-283D597A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44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0F708-17F4-4C3E-94A4-F8F726998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9676C8-858B-466B-94F9-2545773B3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D561EF-E2E4-478D-96E4-1AEC63E39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62194F-0079-413D-95B8-8DE139D8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93CA0F-ED3A-4C90-ADC3-3BFF6506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F2C394-5ACD-4F06-B4E6-E522B88E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570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C38B06-5A76-4EF8-AD74-5A80541DE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46BC5B-9863-49FC-8E3F-5AFCED827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2A3563-A3B2-40E2-B7C0-5D0B6C0AB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E23EAF-8CAC-4CDE-A99E-642B8648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CA81D3-3F8D-4F6F-8C09-335192E8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452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2522186-D551-432F-A7E6-08F597FC71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0798C2-D9A1-4180-A3B4-44E6FD704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BFA5C-E13F-4044-AEBD-3A9B1090A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5630A8-6B0C-48BD-ACF3-44B1D17CF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08239-11BD-4B54-BF65-DA62CD78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66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E4912B-0ADA-4619-9DD3-78DA0BA91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D4494D-D2D5-4E82-AD8E-2245DEA4D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B1347E-C35D-49AE-BE2F-DF5AE5005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358D5-059B-4EEF-8450-00D1DA94662C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0CE631-6298-40FA-AA3D-A7CDD7577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C8C31B-8DDC-4496-B88B-32FC85F879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CA10C-7B54-4BE8-AA7B-43A95E88AD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52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545E85-E949-4759-9AD4-11E7FE977C1F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62ADA2-A37E-4E52-A838-EFBE93DD343A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대학도서관 직원 대상 내부교육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B7ED957-3ED9-482A-A110-E2FE2A194D80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80130D6-725A-4AE5-8DE5-0FA04FE5F040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0886FF-7F1E-448C-BE6D-FF5EB00AD6CE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5E8A04F-915A-4961-A8E9-E08CE9DE91AF}"/>
              </a:ext>
            </a:extLst>
          </p:cNvPr>
          <p:cNvSpPr/>
          <p:nvPr/>
        </p:nvSpPr>
        <p:spPr>
          <a:xfrm>
            <a:off x="609600" y="1574800"/>
            <a:ext cx="609600" cy="63500"/>
          </a:xfrm>
          <a:prstGeom prst="rect">
            <a:avLst/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1461B-BC0F-4AA8-B0EF-C5C8A9DF2A99}"/>
              </a:ext>
            </a:extLst>
          </p:cNvPr>
          <p:cNvSpPr txBox="1"/>
          <p:nvPr/>
        </p:nvSpPr>
        <p:spPr>
          <a:xfrm>
            <a:off x="609600" y="1955800"/>
            <a:ext cx="81280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4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
</a:t>
            </a:r>
            <a:r>
              <a:rPr lang="en-US" altLang="ko-KR" sz="4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44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ACFE0-324C-4079-ABA2-CB1E42B08D7A}"/>
              </a:ext>
            </a:extLst>
          </p:cNvPr>
          <p:cNvSpPr txBox="1"/>
          <p:nvPr/>
        </p:nvSpPr>
        <p:spPr>
          <a:xfrm>
            <a:off x="635000" y="4038600"/>
            <a:ext cx="7239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27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700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737D4-592F-4714-9A4A-6CB8C0274056}"/>
              </a:ext>
            </a:extLst>
          </p:cNvPr>
          <p:cNvSpPr txBox="1"/>
          <p:nvPr/>
        </p:nvSpPr>
        <p:spPr>
          <a:xfrm>
            <a:off x="635000" y="5588000"/>
            <a:ext cx="762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차시 </a:t>
            </a:r>
            <a:r>
              <a:rPr lang="en-US" altLang="ko-KR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2026. 9.</a:t>
            </a:r>
            <a:endParaRPr lang="ko-KR" altLang="en-US" sz="16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ABD569D-C96E-4CA0-AFA0-56B40DCA8381}"/>
              </a:ext>
            </a:extLst>
          </p:cNvPr>
          <p:cNvSpPr/>
          <p:nvPr/>
        </p:nvSpPr>
        <p:spPr>
          <a:xfrm>
            <a:off x="8661400" y="1841500"/>
            <a:ext cx="2921000" cy="32131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CAFF823-AF29-4F9F-9360-F35B9091B49C}"/>
              </a:ext>
            </a:extLst>
          </p:cNvPr>
          <p:cNvSpPr/>
          <p:nvPr/>
        </p:nvSpPr>
        <p:spPr>
          <a:xfrm>
            <a:off x="9004300" y="2235200"/>
            <a:ext cx="2209800" cy="1574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074B2BC-4BF4-4CBA-9AE5-69F7647F04AD}"/>
              </a:ext>
            </a:extLst>
          </p:cNvPr>
          <p:cNvSpPr/>
          <p:nvPr/>
        </p:nvSpPr>
        <p:spPr>
          <a:xfrm>
            <a:off x="9207500" y="2501900"/>
            <a:ext cx="1409700" cy="4572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9BAC8C-1E8B-420A-9285-D75957795E5B}"/>
              </a:ext>
            </a:extLst>
          </p:cNvPr>
          <p:cNvSpPr txBox="1"/>
          <p:nvPr/>
        </p:nvSpPr>
        <p:spPr>
          <a:xfrm>
            <a:off x="9309100" y="2565400"/>
            <a:ext cx="1206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7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</a:t>
            </a:r>
            <a:endParaRPr lang="ko-KR" altLang="en-US" sz="17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D46B2EA-BD67-4B02-8FFE-2F051FFEDF2C}"/>
              </a:ext>
            </a:extLst>
          </p:cNvPr>
          <p:cNvCxnSpPr/>
          <p:nvPr/>
        </p:nvCxnSpPr>
        <p:spPr>
          <a:xfrm>
            <a:off x="9271000" y="3225800"/>
            <a:ext cx="1625600" cy="0"/>
          </a:xfrm>
          <a:prstGeom prst="line">
            <a:avLst/>
          </a:prstGeom>
          <a:ln w="381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312B4E4-4B39-4C17-BABA-6754696A8B00}"/>
              </a:ext>
            </a:extLst>
          </p:cNvPr>
          <p:cNvCxnSpPr/>
          <p:nvPr/>
        </p:nvCxnSpPr>
        <p:spPr>
          <a:xfrm>
            <a:off x="9271000" y="3390900"/>
            <a:ext cx="1193800" cy="0"/>
          </a:xfrm>
          <a:prstGeom prst="line">
            <a:avLst/>
          </a:prstGeom>
          <a:ln w="381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294552B-3A64-45DF-9BA8-7EDFEA58AA3F}"/>
              </a:ext>
            </a:extLst>
          </p:cNvPr>
          <p:cNvCxnSpPr/>
          <p:nvPr/>
        </p:nvCxnSpPr>
        <p:spPr>
          <a:xfrm>
            <a:off x="10109200" y="3822700"/>
            <a:ext cx="0" cy="254000"/>
          </a:xfrm>
          <a:prstGeom prst="line">
            <a:avLst/>
          </a:prstGeom>
          <a:ln w="50800">
            <a:solidFill>
              <a:srgbClr val="005B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C404322-52A1-4B44-B642-8DBAC8A7501D}"/>
              </a:ext>
            </a:extLst>
          </p:cNvPr>
          <p:cNvCxnSpPr/>
          <p:nvPr/>
        </p:nvCxnSpPr>
        <p:spPr>
          <a:xfrm>
            <a:off x="9728200" y="4076700"/>
            <a:ext cx="762000" cy="0"/>
          </a:xfrm>
          <a:prstGeom prst="line">
            <a:avLst/>
          </a:prstGeom>
          <a:ln w="50800">
            <a:solidFill>
              <a:srgbClr val="005B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7304A39-CB49-4A53-9A8F-39422329C13E}"/>
              </a:ext>
            </a:extLst>
          </p:cNvPr>
          <p:cNvSpPr/>
          <p:nvPr/>
        </p:nvSpPr>
        <p:spPr>
          <a:xfrm>
            <a:off x="10655300" y="4330700"/>
            <a:ext cx="482600" cy="609600"/>
          </a:xfrm>
          <a:prstGeom prst="roundRect">
            <a:avLst>
              <a:gd name="adj" fmla="val 13000"/>
            </a:avLst>
          </a:prstGeom>
          <a:solidFill>
            <a:srgbClr val="1686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FF98009-BFE4-4667-B816-283C09E7CF64}"/>
              </a:ext>
            </a:extLst>
          </p:cNvPr>
          <p:cNvCxnSpPr/>
          <p:nvPr/>
        </p:nvCxnSpPr>
        <p:spPr>
          <a:xfrm>
            <a:off x="10769600" y="4546600"/>
            <a:ext cx="2413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E86AE9C-D7A8-4264-B280-AE543D5C69D7}"/>
              </a:ext>
            </a:extLst>
          </p:cNvPr>
          <p:cNvCxnSpPr/>
          <p:nvPr/>
        </p:nvCxnSpPr>
        <p:spPr>
          <a:xfrm>
            <a:off x="10769600" y="4648200"/>
            <a:ext cx="2413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7B34BA6-12D9-4C09-BEEA-22E3A747ED58}"/>
              </a:ext>
            </a:extLst>
          </p:cNvPr>
          <p:cNvCxnSpPr/>
          <p:nvPr/>
        </p:nvCxnSpPr>
        <p:spPr>
          <a:xfrm>
            <a:off x="10769600" y="4749800"/>
            <a:ext cx="16510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D5D5B24-7691-4382-BDB8-0D321114509D}"/>
              </a:ext>
            </a:extLst>
          </p:cNvPr>
          <p:cNvSpPr/>
          <p:nvPr/>
        </p:nvSpPr>
        <p:spPr>
          <a:xfrm>
            <a:off x="9004300" y="4343400"/>
            <a:ext cx="1422400" cy="4318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F3FD73-A127-4E9B-B025-CF3AFBB90F97}"/>
              </a:ext>
            </a:extLst>
          </p:cNvPr>
          <p:cNvSpPr txBox="1"/>
          <p:nvPr/>
        </p:nvSpPr>
        <p:spPr>
          <a:xfrm>
            <a:off x="9067800" y="4419600"/>
            <a:ext cx="1295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</a:t>
            </a:r>
            <a:r>
              <a:rPr lang="en-US" altLang="ko-KR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· </a:t>
            </a:r>
            <a:r>
              <a:rPr lang="ko-KR" altLang="en-US" sz="14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</a:t>
            </a:r>
          </a:p>
        </p:txBody>
      </p:sp>
    </p:spTree>
    <p:extLst>
      <p:ext uri="{BB962C8B-B14F-4D97-AF65-F5344CB8AC3E}">
        <p14:creationId xmlns:p14="http://schemas.microsoft.com/office/powerpoint/2010/main" val="2290169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DF9AAF-A949-4C3A-A11E-8AA22602EF93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0B0A5C-6876-408D-B8A1-224E2ECDFA06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변화 살펴보기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8FCA00-05F0-47C1-AABD-AF9DE7ADE860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요즘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많이 달라졌습니다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28DB3D9-08CB-41FF-A2A3-F22600E1FE23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534478E-04FC-4DBE-8EEC-48C2B73E4A3B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9B2F4-BDF4-427E-ABA6-3B50B9F3918E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F0E9BDD-B5F1-4E70-B709-6BDF19113D99}"/>
              </a:ext>
            </a:extLst>
          </p:cNvPr>
          <p:cNvCxnSpPr/>
          <p:nvPr/>
        </p:nvCxnSpPr>
        <p:spPr>
          <a:xfrm flipH="1" flipV="1">
            <a:off x="2222500" y="2540000"/>
            <a:ext cx="3873500" cy="9398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80739C6-EA17-4A3F-B344-AF47A92BCA35}"/>
              </a:ext>
            </a:extLst>
          </p:cNvPr>
          <p:cNvCxnSpPr/>
          <p:nvPr/>
        </p:nvCxnSpPr>
        <p:spPr>
          <a:xfrm flipV="1">
            <a:off x="6096000" y="2540000"/>
            <a:ext cx="3568700" cy="9398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71BB4CD-E772-4273-BD2E-C6142B2EFE75}"/>
              </a:ext>
            </a:extLst>
          </p:cNvPr>
          <p:cNvCxnSpPr/>
          <p:nvPr/>
        </p:nvCxnSpPr>
        <p:spPr>
          <a:xfrm flipH="1">
            <a:off x="2222500" y="3479800"/>
            <a:ext cx="3873500" cy="35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D58F5CC-62EA-4906-A5EF-A3FAD7D96E34}"/>
              </a:ext>
            </a:extLst>
          </p:cNvPr>
          <p:cNvCxnSpPr/>
          <p:nvPr/>
        </p:nvCxnSpPr>
        <p:spPr>
          <a:xfrm>
            <a:off x="6096000" y="3479800"/>
            <a:ext cx="3568700" cy="35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77B2703-4127-4D74-B548-CF992A244B1C}"/>
              </a:ext>
            </a:extLst>
          </p:cNvPr>
          <p:cNvCxnSpPr/>
          <p:nvPr/>
        </p:nvCxnSpPr>
        <p:spPr>
          <a:xfrm flipH="1">
            <a:off x="4711700" y="3479800"/>
            <a:ext cx="1384300" cy="162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8231E35-66B2-4362-9813-F5FFFED5CE96}"/>
              </a:ext>
            </a:extLst>
          </p:cNvPr>
          <p:cNvCxnSpPr/>
          <p:nvPr/>
        </p:nvCxnSpPr>
        <p:spPr>
          <a:xfrm>
            <a:off x="6096000" y="3479800"/>
            <a:ext cx="1689100" cy="1625600"/>
          </a:xfrm>
          <a:prstGeom prst="line">
            <a:avLst/>
          </a:prstGeom>
          <a:ln w="2540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4208EB0-973C-4D5A-BE0A-2237970286B3}"/>
              </a:ext>
            </a:extLst>
          </p:cNvPr>
          <p:cNvSpPr/>
          <p:nvPr/>
        </p:nvSpPr>
        <p:spPr>
          <a:xfrm>
            <a:off x="812800" y="20701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D77C6D-F4D7-45F8-B7DB-F42765AF7FDB}"/>
              </a:ext>
            </a:extLst>
          </p:cNvPr>
          <p:cNvSpPr txBox="1"/>
          <p:nvPr/>
        </p:nvSpPr>
        <p:spPr>
          <a:xfrm>
            <a:off x="965200" y="23368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Astra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19C7AF2-89C0-4309-81F0-D0DB6E229E05}"/>
              </a:ext>
            </a:extLst>
          </p:cNvPr>
          <p:cNvSpPr/>
          <p:nvPr/>
        </p:nvSpPr>
        <p:spPr>
          <a:xfrm>
            <a:off x="8255000" y="20701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CFD4B7-EBAE-4250-8A40-E2CB540786EA}"/>
              </a:ext>
            </a:extLst>
          </p:cNvPr>
          <p:cNvSpPr txBox="1"/>
          <p:nvPr/>
        </p:nvSpPr>
        <p:spPr>
          <a:xfrm>
            <a:off x="8407400" y="23368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생성</a:t>
            </a:r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편집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76C1F63-D635-475E-8C90-9549571AA7B3}"/>
              </a:ext>
            </a:extLst>
          </p:cNvPr>
          <p:cNvSpPr/>
          <p:nvPr/>
        </p:nvSpPr>
        <p:spPr>
          <a:xfrm>
            <a:off x="812800" y="336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EE86AC-C1D4-4962-8AE3-26DC97C82A8B}"/>
              </a:ext>
            </a:extLst>
          </p:cNvPr>
          <p:cNvSpPr txBox="1"/>
          <p:nvPr/>
        </p:nvSpPr>
        <p:spPr>
          <a:xfrm>
            <a:off x="965200" y="363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F76130D-AD51-407A-B5BE-81CE676D46DB}"/>
              </a:ext>
            </a:extLst>
          </p:cNvPr>
          <p:cNvSpPr/>
          <p:nvPr/>
        </p:nvSpPr>
        <p:spPr>
          <a:xfrm>
            <a:off x="8255000" y="336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1FC93E-CE66-4691-BFE8-24506580B0E9}"/>
              </a:ext>
            </a:extLst>
          </p:cNvPr>
          <p:cNvSpPr txBox="1"/>
          <p:nvPr/>
        </p:nvSpPr>
        <p:spPr>
          <a:xfrm>
            <a:off x="8407400" y="363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Desktop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B7C64EF-5BE1-43B5-8A85-5E2F208BE9CD}"/>
              </a:ext>
            </a:extLst>
          </p:cNvPr>
          <p:cNvSpPr/>
          <p:nvPr/>
        </p:nvSpPr>
        <p:spPr>
          <a:xfrm>
            <a:off x="3302000" y="463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FEEECA-372F-4C3E-AABB-B24649660368}"/>
              </a:ext>
            </a:extLst>
          </p:cNvPr>
          <p:cNvSpPr txBox="1"/>
          <p:nvPr/>
        </p:nvSpPr>
        <p:spPr>
          <a:xfrm>
            <a:off x="3454400" y="490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Work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BFDC14E-E3AD-439C-94D7-1E722D36802B}"/>
              </a:ext>
            </a:extLst>
          </p:cNvPr>
          <p:cNvSpPr/>
          <p:nvPr/>
        </p:nvSpPr>
        <p:spPr>
          <a:xfrm>
            <a:off x="6375400" y="4635500"/>
            <a:ext cx="2870200" cy="9398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54F12C-87A9-41BB-B511-E1A443376593}"/>
              </a:ext>
            </a:extLst>
          </p:cNvPr>
          <p:cNvSpPr txBox="1"/>
          <p:nvPr/>
        </p:nvSpPr>
        <p:spPr>
          <a:xfrm>
            <a:off x="6527800" y="4902200"/>
            <a:ext cx="2565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 새로운 기능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68165B4-C9F4-4BB1-96BA-433259B86716}"/>
              </a:ext>
            </a:extLst>
          </p:cNvPr>
          <p:cNvSpPr/>
          <p:nvPr/>
        </p:nvSpPr>
        <p:spPr>
          <a:xfrm>
            <a:off x="4673600" y="2755900"/>
            <a:ext cx="2844800" cy="13970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F009E0-E3FE-4BC1-AD69-8527D1DFD8DD}"/>
              </a:ext>
            </a:extLst>
          </p:cNvPr>
          <p:cNvSpPr txBox="1"/>
          <p:nvPr/>
        </p:nvSpPr>
        <p:spPr>
          <a:xfrm>
            <a:off x="4838700" y="3187700"/>
            <a:ext cx="2514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3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</a:t>
            </a:r>
            <a:endParaRPr lang="ko-KR" altLang="en-US" sz="3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A6FD6F-A9E4-45B6-B48E-BD6E9E5DAE42}"/>
              </a:ext>
            </a:extLst>
          </p:cNvPr>
          <p:cNvSpPr txBox="1"/>
          <p:nvPr/>
        </p:nvSpPr>
        <p:spPr>
          <a:xfrm>
            <a:off x="609600" y="5791200"/>
            <a:ext cx="10972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</a:t>
            </a:r>
            <a:r>
              <a:rPr lang="ko-KR" altLang="en-US" sz="1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계속해서 새로운 작업 방식으로 확장되고 있습니다</a:t>
            </a:r>
            <a:r>
              <a:rPr lang="en-US" altLang="ko-KR" sz="19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9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9963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A2F59F-40CF-44BD-AD9F-B40AC5211744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95209-73A1-4100-A789-7CD467806A60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함께 이야기하기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75B5B3-F027-4C41-9E93-53ADB37E2FB9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다들 써보셨나요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FD5015B-B127-47D1-BB92-7A27E0ACFE7A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8FB4E66-4EE7-4CB2-839E-81C7588446F6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096D02-CEAD-4A14-97CD-244687CD0DE4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C038A4B-8BFF-4231-86AF-058EF5F60062}"/>
              </a:ext>
            </a:extLst>
          </p:cNvPr>
          <p:cNvSpPr/>
          <p:nvPr/>
        </p:nvSpPr>
        <p:spPr>
          <a:xfrm>
            <a:off x="6096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71A2C-BF93-4319-8DBC-9C73EABE181B}"/>
              </a:ext>
            </a:extLst>
          </p:cNvPr>
          <p:cNvSpPr txBox="1"/>
          <p:nvPr/>
        </p:nvSpPr>
        <p:spPr>
          <a:xfrm>
            <a:off x="6858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Astra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93C30F4-BE27-4D20-BFA6-3542390173C0}"/>
              </a:ext>
            </a:extLst>
          </p:cNvPr>
          <p:cNvSpPr/>
          <p:nvPr/>
        </p:nvSpPr>
        <p:spPr>
          <a:xfrm>
            <a:off x="28448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BF769E-F575-4ABA-A81A-2AED1644184D}"/>
              </a:ext>
            </a:extLst>
          </p:cNvPr>
          <p:cNvSpPr txBox="1"/>
          <p:nvPr/>
        </p:nvSpPr>
        <p:spPr>
          <a:xfrm>
            <a:off x="29210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7A83B57-B795-49B3-A26C-03E2EED85861}"/>
              </a:ext>
            </a:extLst>
          </p:cNvPr>
          <p:cNvSpPr/>
          <p:nvPr/>
        </p:nvSpPr>
        <p:spPr>
          <a:xfrm>
            <a:off x="50800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8AF424-A587-4375-A7A8-81817AFB6BAB}"/>
              </a:ext>
            </a:extLst>
          </p:cNvPr>
          <p:cNvSpPr txBox="1"/>
          <p:nvPr/>
        </p:nvSpPr>
        <p:spPr>
          <a:xfrm>
            <a:off x="51562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09F3161-5412-419C-B0C5-FDA35E3490F0}"/>
              </a:ext>
            </a:extLst>
          </p:cNvPr>
          <p:cNvSpPr/>
          <p:nvPr/>
        </p:nvSpPr>
        <p:spPr>
          <a:xfrm>
            <a:off x="73152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965DFD-B4DE-4AAB-A1E7-31E8E07F369C}"/>
              </a:ext>
            </a:extLst>
          </p:cNvPr>
          <p:cNvSpPr txBox="1"/>
          <p:nvPr/>
        </p:nvSpPr>
        <p:spPr>
          <a:xfrm>
            <a:off x="73914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Desktop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2DA886B-7DBC-4DFC-AB76-D14A019E0EB8}"/>
              </a:ext>
            </a:extLst>
          </p:cNvPr>
          <p:cNvSpPr/>
          <p:nvPr/>
        </p:nvSpPr>
        <p:spPr>
          <a:xfrm>
            <a:off x="9550400" y="2006600"/>
            <a:ext cx="2032000" cy="7874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DF2A23-8F0A-492E-873A-EA480DBB11D4}"/>
              </a:ext>
            </a:extLst>
          </p:cNvPr>
          <p:cNvSpPr txBox="1"/>
          <p:nvPr/>
        </p:nvSpPr>
        <p:spPr>
          <a:xfrm>
            <a:off x="9626600" y="2222500"/>
            <a:ext cx="1879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1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Work</a:t>
            </a:r>
            <a:endParaRPr lang="ko-KR" altLang="en-US" sz="21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ACFB4B6-BC66-403B-8116-7B5FF5FC7104}"/>
              </a:ext>
            </a:extLst>
          </p:cNvPr>
          <p:cNvSpPr/>
          <p:nvPr/>
        </p:nvSpPr>
        <p:spPr>
          <a:xfrm>
            <a:off x="609600" y="3302000"/>
            <a:ext cx="3454400" cy="2260600"/>
          </a:xfrm>
          <a:prstGeom prst="roundRect">
            <a:avLst>
              <a:gd name="adj" fmla="val 13000"/>
            </a:avLst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EFBB15-9AC8-49C8-9BE0-CDB83A5AF320}"/>
              </a:ext>
            </a:extLst>
          </p:cNvPr>
          <p:cNvSpPr txBox="1"/>
          <p:nvPr/>
        </p:nvSpPr>
        <p:spPr>
          <a:xfrm>
            <a:off x="1574800" y="3492500"/>
            <a:ext cx="1524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4700" b="1">
                <a:solidFill>
                  <a:srgbClr val="005BAC"/>
                </a:solidFill>
                <a:latin typeface="Segoe UI Emoji" panose="020B0502040204020203" pitchFamily="34" charset="0"/>
                <a:ea typeface="맑은 고딕" panose="020B0503020000020004" pitchFamily="50" charset="-127"/>
              </a:rPr>
              <a:t>🙋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420E92-3B4A-40F4-9E63-0D1D14C8EB89}"/>
              </a:ext>
            </a:extLst>
          </p:cNvPr>
          <p:cNvSpPr txBox="1"/>
          <p:nvPr/>
        </p:nvSpPr>
        <p:spPr>
          <a:xfrm>
            <a:off x="863600" y="46482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써봤다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FB78F92-3E55-4A0C-93A8-40BBA54B4C58}"/>
              </a:ext>
            </a:extLst>
          </p:cNvPr>
          <p:cNvSpPr/>
          <p:nvPr/>
        </p:nvSpPr>
        <p:spPr>
          <a:xfrm>
            <a:off x="4368800" y="3302000"/>
            <a:ext cx="3454400" cy="2260600"/>
          </a:xfrm>
          <a:prstGeom prst="roundRect">
            <a:avLst>
              <a:gd name="adj" fmla="val 13000"/>
            </a:avLst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B49BC5-FBF8-4D55-9BC5-0A84D0771356}"/>
              </a:ext>
            </a:extLst>
          </p:cNvPr>
          <p:cNvSpPr txBox="1"/>
          <p:nvPr/>
        </p:nvSpPr>
        <p:spPr>
          <a:xfrm>
            <a:off x="5334000" y="3492500"/>
            <a:ext cx="1524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4700" b="1">
                <a:solidFill>
                  <a:srgbClr val="16866B"/>
                </a:solidFill>
                <a:latin typeface="Segoe UI Emoji" panose="020B0502040204020203" pitchFamily="34" charset="0"/>
                <a:ea typeface="맑은 고딕" panose="020B0503020000020004" pitchFamily="50" charset="-127"/>
              </a:rPr>
              <a:t>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0D5D99-8F2D-4813-B1C4-E56A5A01B1A3}"/>
              </a:ext>
            </a:extLst>
          </p:cNvPr>
          <p:cNvSpPr txBox="1"/>
          <p:nvPr/>
        </p:nvSpPr>
        <p:spPr>
          <a:xfrm>
            <a:off x="4622800" y="46482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들어봤다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ABAA56A-9513-40E9-8F2B-9C54AC4BAA8B}"/>
              </a:ext>
            </a:extLst>
          </p:cNvPr>
          <p:cNvSpPr/>
          <p:nvPr/>
        </p:nvSpPr>
        <p:spPr>
          <a:xfrm>
            <a:off x="8128000" y="3302000"/>
            <a:ext cx="3454400" cy="2260600"/>
          </a:xfrm>
          <a:prstGeom prst="roundRect">
            <a:avLst>
              <a:gd name="adj" fmla="val 13000"/>
            </a:avLst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7B82D2-8388-499C-AE01-7ADAF467B448}"/>
              </a:ext>
            </a:extLst>
          </p:cNvPr>
          <p:cNvSpPr txBox="1"/>
          <p:nvPr/>
        </p:nvSpPr>
        <p:spPr>
          <a:xfrm>
            <a:off x="9093200" y="3492500"/>
            <a:ext cx="15240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47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4700" b="1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862E27-F7BB-4C65-BC8F-9579BBEF1AB7}"/>
              </a:ext>
            </a:extLst>
          </p:cNvPr>
          <p:cNvSpPr txBox="1"/>
          <p:nvPr/>
        </p:nvSpPr>
        <p:spPr>
          <a:xfrm>
            <a:off x="8382000" y="4648200"/>
            <a:ext cx="294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처음 본다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0F1BC3-3016-4046-8668-0E6233F0F48E}"/>
              </a:ext>
            </a:extLst>
          </p:cNvPr>
          <p:cNvSpPr txBox="1"/>
          <p:nvPr/>
        </p:nvSpPr>
        <p:spPr>
          <a:xfrm>
            <a:off x="609600" y="5829300"/>
            <a:ext cx="10972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손을 들어 함께 알려주세요</a:t>
            </a:r>
          </a:p>
        </p:txBody>
      </p:sp>
    </p:spTree>
    <p:extLst>
      <p:ext uri="{BB962C8B-B14F-4D97-AF65-F5344CB8AC3E}">
        <p14:creationId xmlns:p14="http://schemas.microsoft.com/office/powerpoint/2010/main" val="1600218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8D7EC-9E26-49CA-9A6F-5B773308F14B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FE35F-FF0B-4592-82B1-54D6E8B155AA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오늘의 핵심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1DE6B-7C39-446E-87E4-BC44B542DA01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그런데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가장 큰 변화는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7A12820-F916-4086-86DC-1ED2F0F3CB07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378E63D-E70A-47DA-9338-CC0B7BCD9D56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70A14-3E2F-4BA2-84F7-070DCC54411C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D55239-0B44-4449-99C3-27FEC560BAC9}"/>
              </a:ext>
            </a:extLst>
          </p:cNvPr>
          <p:cNvSpPr txBox="1"/>
          <p:nvPr/>
        </p:nvSpPr>
        <p:spPr>
          <a:xfrm>
            <a:off x="609600" y="1993900"/>
            <a:ext cx="39370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9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질문하는 </a:t>
            </a:r>
            <a:r>
              <a:rPr lang="en-US" altLang="ko-KR" sz="39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endParaRPr lang="ko-KR" altLang="en-US" sz="3900" b="1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2FD95E-9D2E-48B6-8B71-D90CDBD4644E}"/>
              </a:ext>
            </a:extLst>
          </p:cNvPr>
          <p:cNvSpPr txBox="1"/>
          <p:nvPr/>
        </p:nvSpPr>
        <p:spPr>
          <a:xfrm>
            <a:off x="4800600" y="1905000"/>
            <a:ext cx="1219200" cy="7232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47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873897-F02C-43C8-842D-360E3A4A7741}"/>
              </a:ext>
            </a:extLst>
          </p:cNvPr>
          <p:cNvSpPr txBox="1"/>
          <p:nvPr/>
        </p:nvSpPr>
        <p:spPr>
          <a:xfrm>
            <a:off x="6413500" y="1993900"/>
            <a:ext cx="5080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4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일하는 </a:t>
            </a:r>
            <a:r>
              <a:rPr lang="en-US" altLang="ko-KR" sz="45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endParaRPr lang="ko-KR" altLang="en-US" sz="45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116BC87-B139-4D41-A3E1-5C2F3F8F3769}"/>
              </a:ext>
            </a:extLst>
          </p:cNvPr>
          <p:cNvSpPr/>
          <p:nvPr/>
        </p:nvSpPr>
        <p:spPr>
          <a:xfrm>
            <a:off x="609600" y="3352800"/>
            <a:ext cx="3530600" cy="2032000"/>
          </a:xfrm>
          <a:prstGeom prst="roundRect">
            <a:avLst>
              <a:gd name="adj" fmla="val 13000"/>
            </a:avLst>
          </a:prstGeom>
          <a:solidFill>
            <a:srgbClr val="F3F5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BD2F5D-73CB-4907-8788-A5B61BA7AB8A}"/>
              </a:ext>
            </a:extLst>
          </p:cNvPr>
          <p:cNvSpPr txBox="1"/>
          <p:nvPr/>
        </p:nvSpPr>
        <p:spPr>
          <a:xfrm>
            <a:off x="914400" y="4064000"/>
            <a:ext cx="10668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5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846DEF-9DF6-4F4B-94E7-BF2719080AD9}"/>
              </a:ext>
            </a:extLst>
          </p:cNvPr>
          <p:cNvSpPr txBox="1"/>
          <p:nvPr/>
        </p:nvSpPr>
        <p:spPr>
          <a:xfrm>
            <a:off x="2019300" y="4051300"/>
            <a:ext cx="6223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3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623F5B-A91A-48E9-B067-54AE278C78A6}"/>
              </a:ext>
            </a:extLst>
          </p:cNvPr>
          <p:cNvSpPr txBox="1"/>
          <p:nvPr/>
        </p:nvSpPr>
        <p:spPr>
          <a:xfrm>
            <a:off x="2705100" y="4064000"/>
            <a:ext cx="10922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500" b="1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59B54D-01FA-43ED-8C4B-21E95909C7A2}"/>
              </a:ext>
            </a:extLst>
          </p:cNvPr>
          <p:cNvSpPr txBox="1"/>
          <p:nvPr/>
        </p:nvSpPr>
        <p:spPr>
          <a:xfrm>
            <a:off x="4279900" y="4013200"/>
            <a:ext cx="6096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0040524-558E-4574-852C-3C799CB83C57}"/>
              </a:ext>
            </a:extLst>
          </p:cNvPr>
          <p:cNvSpPr/>
          <p:nvPr/>
        </p:nvSpPr>
        <p:spPr>
          <a:xfrm>
            <a:off x="5067300" y="3352800"/>
            <a:ext cx="6515100" cy="20320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B59C47-026C-4078-9374-39433EF601B3}"/>
              </a:ext>
            </a:extLst>
          </p:cNvPr>
          <p:cNvSpPr txBox="1"/>
          <p:nvPr/>
        </p:nvSpPr>
        <p:spPr>
          <a:xfrm>
            <a:off x="52705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62EE7D2-BAA2-42E1-8DE6-76BC2BB43658}"/>
              </a:ext>
            </a:extLst>
          </p:cNvPr>
          <p:cNvSpPr/>
          <p:nvPr/>
        </p:nvSpPr>
        <p:spPr>
          <a:xfrm>
            <a:off x="52705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AB0A34-7D02-4D31-9F08-CF04112E110F}"/>
              </a:ext>
            </a:extLst>
          </p:cNvPr>
          <p:cNvSpPr txBox="1"/>
          <p:nvPr/>
        </p:nvSpPr>
        <p:spPr>
          <a:xfrm>
            <a:off x="53086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 지시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70CC98-B220-4B7F-8CDC-BF3C39A97DFD}"/>
              </a:ext>
            </a:extLst>
          </p:cNvPr>
          <p:cNvSpPr txBox="1"/>
          <p:nvPr/>
        </p:nvSpPr>
        <p:spPr>
          <a:xfrm>
            <a:off x="6642100" y="4267200"/>
            <a:ext cx="20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9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3099A5-3740-45A7-B2A2-99698222902A}"/>
              </a:ext>
            </a:extLst>
          </p:cNvPr>
          <p:cNvSpPr txBox="1"/>
          <p:nvPr/>
        </p:nvSpPr>
        <p:spPr>
          <a:xfrm>
            <a:off x="68453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B1EADC1-585B-4AA5-AFEC-45A9DA3513AB}"/>
              </a:ext>
            </a:extLst>
          </p:cNvPr>
          <p:cNvSpPr/>
          <p:nvPr/>
        </p:nvSpPr>
        <p:spPr>
          <a:xfrm>
            <a:off x="68453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EA0701-FBDD-4229-B734-F3D36E6031DD}"/>
              </a:ext>
            </a:extLst>
          </p:cNvPr>
          <p:cNvSpPr txBox="1"/>
          <p:nvPr/>
        </p:nvSpPr>
        <p:spPr>
          <a:xfrm>
            <a:off x="68834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확인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0963EE-63EE-4445-B4FB-9C491AC0AC5E}"/>
              </a:ext>
            </a:extLst>
          </p:cNvPr>
          <p:cNvSpPr txBox="1"/>
          <p:nvPr/>
        </p:nvSpPr>
        <p:spPr>
          <a:xfrm>
            <a:off x="8216900" y="4267200"/>
            <a:ext cx="20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9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F8E265-6748-4F42-8DD0-9E65C447D1CB}"/>
              </a:ext>
            </a:extLst>
          </p:cNvPr>
          <p:cNvSpPr txBox="1"/>
          <p:nvPr/>
        </p:nvSpPr>
        <p:spPr>
          <a:xfrm>
            <a:off x="84201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9B4A8C3-E436-4484-B37E-FA74C208CCFB}"/>
              </a:ext>
            </a:extLst>
          </p:cNvPr>
          <p:cNvSpPr/>
          <p:nvPr/>
        </p:nvSpPr>
        <p:spPr>
          <a:xfrm>
            <a:off x="84201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29C63-21B4-4669-8F2A-01840B16B2DB}"/>
              </a:ext>
            </a:extLst>
          </p:cNvPr>
          <p:cNvSpPr txBox="1"/>
          <p:nvPr/>
        </p:nvSpPr>
        <p:spPr>
          <a:xfrm>
            <a:off x="84582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작업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1F6653-AAB8-4D3C-B2C6-50EEBA79CF86}"/>
              </a:ext>
            </a:extLst>
          </p:cNvPr>
          <p:cNvSpPr txBox="1"/>
          <p:nvPr/>
        </p:nvSpPr>
        <p:spPr>
          <a:xfrm>
            <a:off x="9791700" y="4267200"/>
            <a:ext cx="203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›</a:t>
            </a:r>
            <a:endParaRPr lang="ko-KR" altLang="en-US" sz="19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13FBAB-E715-4D80-829F-E5B4673F805A}"/>
              </a:ext>
            </a:extLst>
          </p:cNvPr>
          <p:cNvSpPr txBox="1"/>
          <p:nvPr/>
        </p:nvSpPr>
        <p:spPr>
          <a:xfrm>
            <a:off x="9994900" y="3644900"/>
            <a:ext cx="137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B4A2AEF-8AAA-47BF-9CD5-DE7A3DD4C25C}"/>
              </a:ext>
            </a:extLst>
          </p:cNvPr>
          <p:cNvSpPr/>
          <p:nvPr/>
        </p:nvSpPr>
        <p:spPr>
          <a:xfrm>
            <a:off x="9994900" y="4089400"/>
            <a:ext cx="1371600" cy="7366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F72492-D3D7-4B8E-A90D-3DFCF3DF3899}"/>
              </a:ext>
            </a:extLst>
          </p:cNvPr>
          <p:cNvSpPr txBox="1"/>
          <p:nvPr/>
        </p:nvSpPr>
        <p:spPr>
          <a:xfrm>
            <a:off x="10033000" y="4292600"/>
            <a:ext cx="1295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결과물 생성</a:t>
            </a:r>
          </a:p>
        </p:txBody>
      </p:sp>
    </p:spTree>
    <p:extLst>
      <p:ext uri="{BB962C8B-B14F-4D97-AF65-F5344CB8AC3E}">
        <p14:creationId xmlns:p14="http://schemas.microsoft.com/office/powerpoint/2010/main" val="3036330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161331-8F1F-4E3C-8CFF-3FC29B482951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9B1E0-BA25-489D-9483-7CFD04C07D0B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두 가지 작업 도구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A8F737-1A60-413C-BDB8-5B7EE73CD9D2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그걸 가능하게 하는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Desktop + Codex</a:t>
            </a:r>
            <a:endParaRPr lang="ko-KR" altLang="en-US" sz="3000" b="1">
              <a:solidFill>
                <a:srgbClr val="142E4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20BBE92-A9C3-47AA-BE81-965351DB33EC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E0EF5A3-5119-44D9-B795-103CC4E3FB54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FD5FEB-21D1-4C84-AC3F-6D69FA7DE3CD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4F0E2F7-ED55-499D-9A64-9AD82C33C2F9}"/>
              </a:ext>
            </a:extLst>
          </p:cNvPr>
          <p:cNvSpPr/>
          <p:nvPr/>
        </p:nvSpPr>
        <p:spPr>
          <a:xfrm>
            <a:off x="609600" y="1968500"/>
            <a:ext cx="5283200" cy="2984500"/>
          </a:xfrm>
          <a:prstGeom prst="roundRect">
            <a:avLst>
              <a:gd name="adj" fmla="val 13000"/>
            </a:avLst>
          </a:prstGeom>
          <a:solidFill>
            <a:srgbClr val="EDF4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2B41133-79C9-4D5B-A8D9-DE30BE7EB623}"/>
              </a:ext>
            </a:extLst>
          </p:cNvPr>
          <p:cNvSpPr/>
          <p:nvPr/>
        </p:nvSpPr>
        <p:spPr>
          <a:xfrm>
            <a:off x="6299200" y="1968500"/>
            <a:ext cx="5283200" cy="2984500"/>
          </a:xfrm>
          <a:prstGeom prst="roundRect">
            <a:avLst>
              <a:gd name="adj" fmla="val 13000"/>
            </a:avLst>
          </a:prstGeom>
          <a:solidFill>
            <a:srgbClr val="F0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548F83-F581-40D1-9ABE-BAEAA7C9EFEE}"/>
              </a:ext>
            </a:extLst>
          </p:cNvPr>
          <p:cNvSpPr txBox="1"/>
          <p:nvPr/>
        </p:nvSpPr>
        <p:spPr>
          <a:xfrm>
            <a:off x="927100" y="2260600"/>
            <a:ext cx="46101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7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Desktop</a:t>
            </a:r>
            <a:endParaRPr lang="ko-KR" altLang="en-US" sz="27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9224A3-FECF-487D-8226-3FDBC8980088}"/>
              </a:ext>
            </a:extLst>
          </p:cNvPr>
          <p:cNvSpPr txBox="1"/>
          <p:nvPr/>
        </p:nvSpPr>
        <p:spPr>
          <a:xfrm>
            <a:off x="6616700" y="2260600"/>
            <a:ext cx="46101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700" b="1">
                <a:solidFill>
                  <a:srgbClr val="1686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2700" b="1">
              <a:solidFill>
                <a:srgbClr val="16866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4160A1-5A79-41DF-806E-75A6C6F8F20B}"/>
              </a:ext>
            </a:extLst>
          </p:cNvPr>
          <p:cNvSpPr txBox="1"/>
          <p:nvPr/>
        </p:nvSpPr>
        <p:spPr>
          <a:xfrm>
            <a:off x="939800" y="3035300"/>
            <a:ext cx="45847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r>
              <a:rPr lang="ko-KR" altLang="en-US" sz="22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22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22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
작업 환경과 더 가까운 활용
파일을 활용한 작업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5E1038-C83B-4DD4-A56B-1810A47A0AC3}"/>
              </a:ext>
            </a:extLst>
          </p:cNvPr>
          <p:cNvSpPr txBox="1"/>
          <p:nvPr/>
        </p:nvSpPr>
        <p:spPr>
          <a:xfrm>
            <a:off x="6629400" y="3035300"/>
            <a:ext cx="45974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2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자연어로 작업 지시
파일과 코드 확인</a:t>
            </a:r>
            <a:r>
              <a:rPr lang="en-US" altLang="ko-KR" sz="22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200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
여러 단계의 작업 수행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A7DB5C-682D-4600-85B5-A18E431D69AF}"/>
              </a:ext>
            </a:extLst>
          </p:cNvPr>
          <p:cNvSpPr txBox="1"/>
          <p:nvPr/>
        </p:nvSpPr>
        <p:spPr>
          <a:xfrm>
            <a:off x="609600" y="5143500"/>
            <a:ext cx="1097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“무엇을 물어볼까</a:t>
            </a:r>
            <a:r>
              <a:rPr lang="en-US" altLang="ko-KR" sz="2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?”</a:t>
            </a:r>
            <a:endParaRPr lang="ko-KR" altLang="en-US" sz="2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23557B-6D2F-40FA-AFBD-F012C17B832F}"/>
              </a:ext>
            </a:extLst>
          </p:cNvPr>
          <p:cNvSpPr txBox="1"/>
          <p:nvPr/>
        </p:nvSpPr>
        <p:spPr>
          <a:xfrm>
            <a:off x="5689600" y="5473700"/>
            <a:ext cx="812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1BDEA-A3CE-44E8-9624-F16F1C1652AB}"/>
              </a:ext>
            </a:extLst>
          </p:cNvPr>
          <p:cNvSpPr txBox="1"/>
          <p:nvPr/>
        </p:nvSpPr>
        <p:spPr>
          <a:xfrm>
            <a:off x="609600" y="5829300"/>
            <a:ext cx="109728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“무엇을 맡겨볼까</a:t>
            </a:r>
            <a:r>
              <a:rPr lang="en-US" altLang="ko-KR" sz="26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?”</a:t>
            </a:r>
            <a:endParaRPr lang="ko-KR" altLang="en-US" sz="26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8684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F8AD1B-EB91-4E45-9CAC-6C62756C01D7}"/>
              </a:ext>
            </a:extLst>
          </p:cNvPr>
          <p:cNvSpPr txBox="1"/>
          <p:nvPr/>
        </p:nvSpPr>
        <p:spPr>
          <a:xfrm>
            <a:off x="609600" y="3175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교학상장  </a:t>
            </a:r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 INTRO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CB342-0C7D-4F05-AE63-020E2C469AE0}"/>
              </a:ext>
            </a:extLst>
          </p:cNvPr>
          <p:cNvSpPr txBox="1"/>
          <p:nvPr/>
        </p:nvSpPr>
        <p:spPr>
          <a:xfrm>
            <a:off x="8445500" y="317500"/>
            <a:ext cx="31369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 흐름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D42D3-5D24-4DA8-9168-A4E072C33AEE}"/>
              </a:ext>
            </a:extLst>
          </p:cNvPr>
          <p:cNvSpPr txBox="1"/>
          <p:nvPr/>
        </p:nvSpPr>
        <p:spPr>
          <a:xfrm>
            <a:off x="609600" y="914400"/>
            <a:ext cx="11049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</a:t>
            </a:r>
            <a:r>
              <a:rPr lang="en-US" altLang="ko-KR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30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에게 세 가지 일을 맡겨보겠습니다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AE7B55B-98AC-48FB-9E06-4807B5C14F3D}"/>
              </a:ext>
            </a:extLst>
          </p:cNvPr>
          <p:cNvCxnSpPr/>
          <p:nvPr/>
        </p:nvCxnSpPr>
        <p:spPr>
          <a:xfrm>
            <a:off x="609600" y="6350000"/>
            <a:ext cx="10972800" cy="0"/>
          </a:xfrm>
          <a:prstGeom prst="line">
            <a:avLst/>
          </a:prstGeom>
          <a:ln w="19050">
            <a:solidFill>
              <a:srgbClr val="DCE5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75F7F9-6CAA-4C23-AD3D-98B11AEB2C35}"/>
              </a:ext>
            </a:extLst>
          </p:cNvPr>
          <p:cNvSpPr txBox="1"/>
          <p:nvPr/>
        </p:nvSpPr>
        <p:spPr>
          <a:xfrm>
            <a:off x="609600" y="6489700"/>
            <a:ext cx="914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새로워진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ChatGPT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활용법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데스크톱 앱과 </a:t>
            </a:r>
            <a:r>
              <a:rPr lang="en-US" altLang="ko-KR" sz="9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Codex</a:t>
            </a:r>
            <a:endParaRPr lang="ko-KR" altLang="en-US" sz="9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C7637A-B327-41ED-BEC1-27A03E841592}"/>
              </a:ext>
            </a:extLst>
          </p:cNvPr>
          <p:cNvSpPr txBox="1"/>
          <p:nvPr/>
        </p:nvSpPr>
        <p:spPr>
          <a:xfrm>
            <a:off x="10541000" y="6464300"/>
            <a:ext cx="1041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1000">
                <a:solidFill>
                  <a:srgbClr val="65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 / 06</a:t>
            </a:r>
            <a:endParaRPr lang="ko-KR" altLang="en-US" sz="1000">
              <a:solidFill>
                <a:srgbClr val="65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3688981-8E32-408B-9FBE-AE4D3EFEC3A3}"/>
              </a:ext>
            </a:extLst>
          </p:cNvPr>
          <p:cNvSpPr/>
          <p:nvPr/>
        </p:nvSpPr>
        <p:spPr>
          <a:xfrm>
            <a:off x="609600" y="3314700"/>
            <a:ext cx="3454400" cy="2057400"/>
          </a:xfrm>
          <a:prstGeom prst="roundRect">
            <a:avLst>
              <a:gd name="adj" fmla="val 13000"/>
            </a:avLst>
          </a:prstGeom>
          <a:solidFill>
            <a:srgbClr val="EFF4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2D520-262F-4DEF-B602-231B0C3528EC}"/>
              </a:ext>
            </a:extLst>
          </p:cNvPr>
          <p:cNvSpPr txBox="1"/>
          <p:nvPr/>
        </p:nvSpPr>
        <p:spPr>
          <a:xfrm>
            <a:off x="889000" y="3568700"/>
            <a:ext cx="2895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01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7D5CB-9D15-4182-8E93-56BC42B8A21F}"/>
              </a:ext>
            </a:extLst>
          </p:cNvPr>
          <p:cNvSpPr txBox="1"/>
          <p:nvPr/>
        </p:nvSpPr>
        <p:spPr>
          <a:xfrm>
            <a:off x="889000" y="40767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정리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DD4218-537E-47B2-92F9-26015B280DA3}"/>
              </a:ext>
            </a:extLst>
          </p:cNvPr>
          <p:cNvSpPr txBox="1"/>
          <p:nvPr/>
        </p:nvSpPr>
        <p:spPr>
          <a:xfrm>
            <a:off x="889000" y="4851400"/>
            <a:ext cx="298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텍스트 확인 → 정리 → 새 파일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DD574E-360F-47E5-9434-6F064B5C6699}"/>
              </a:ext>
            </a:extLst>
          </p:cNvPr>
          <p:cNvSpPr txBox="1"/>
          <p:nvPr/>
        </p:nvSpPr>
        <p:spPr>
          <a:xfrm>
            <a:off x="4076700" y="4191000"/>
            <a:ext cx="292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3323A47-CBCF-45CB-A197-DC015B295CC4}"/>
              </a:ext>
            </a:extLst>
          </p:cNvPr>
          <p:cNvSpPr/>
          <p:nvPr/>
        </p:nvSpPr>
        <p:spPr>
          <a:xfrm>
            <a:off x="4368800" y="2768600"/>
            <a:ext cx="3454400" cy="2603500"/>
          </a:xfrm>
          <a:prstGeom prst="roundRect">
            <a:avLst>
              <a:gd name="adj" fmla="val 13000"/>
            </a:avLst>
          </a:prstGeom>
          <a:solidFill>
            <a:srgbClr val="DDEB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A97F39-2219-4BA7-AD2E-BA987993D104}"/>
              </a:ext>
            </a:extLst>
          </p:cNvPr>
          <p:cNvSpPr txBox="1"/>
          <p:nvPr/>
        </p:nvSpPr>
        <p:spPr>
          <a:xfrm>
            <a:off x="4648200" y="3022600"/>
            <a:ext cx="2895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02</a:t>
            </a:r>
            <a:endParaRPr lang="ko-KR" altLang="en-US" sz="1300" b="1">
              <a:solidFill>
                <a:srgbClr val="005BA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BFDB70-2675-4E37-9CF6-E87A9B43CB10}"/>
              </a:ext>
            </a:extLst>
          </p:cNvPr>
          <p:cNvSpPr txBox="1"/>
          <p:nvPr/>
        </p:nvSpPr>
        <p:spPr>
          <a:xfrm>
            <a:off x="4648200" y="35306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 </a:t>
            </a:r>
            <a:r>
              <a:rPr lang="ko-KR" altLang="en-US" sz="28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처리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BA7811-CA4B-4948-855E-67F86ADD52A6}"/>
              </a:ext>
            </a:extLst>
          </p:cNvPr>
          <p:cNvSpPr txBox="1"/>
          <p:nvPr/>
        </p:nvSpPr>
        <p:spPr>
          <a:xfrm>
            <a:off x="4648200" y="4851400"/>
            <a:ext cx="298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 → 집계 → 그래프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4EE6F6-46AB-4206-A279-A49581CE0BEA}"/>
              </a:ext>
            </a:extLst>
          </p:cNvPr>
          <p:cNvSpPr txBox="1"/>
          <p:nvPr/>
        </p:nvSpPr>
        <p:spPr>
          <a:xfrm>
            <a:off x="7835900" y="4191000"/>
            <a:ext cx="292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5BA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D74E4BC-90F6-4E0A-AC48-7D38AB937E61}"/>
              </a:ext>
            </a:extLst>
          </p:cNvPr>
          <p:cNvSpPr/>
          <p:nvPr/>
        </p:nvSpPr>
        <p:spPr>
          <a:xfrm>
            <a:off x="8128000" y="2222500"/>
            <a:ext cx="3454400" cy="3149600"/>
          </a:xfrm>
          <a:prstGeom prst="roundRect">
            <a:avLst>
              <a:gd name="adj" fmla="val 13000"/>
            </a:avLst>
          </a:prstGeom>
          <a:solidFill>
            <a:srgbClr val="005BA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D204B5-049D-4669-B46B-0275EDD9E3D7}"/>
              </a:ext>
            </a:extLst>
          </p:cNvPr>
          <p:cNvSpPr txBox="1"/>
          <p:nvPr/>
        </p:nvSpPr>
        <p:spPr>
          <a:xfrm>
            <a:off x="8407400" y="2476500"/>
            <a:ext cx="2895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03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3A0B2D-DCFF-4185-BD9F-27076BED047E}"/>
              </a:ext>
            </a:extLst>
          </p:cNvPr>
          <p:cNvSpPr txBox="1"/>
          <p:nvPr/>
        </p:nvSpPr>
        <p:spPr>
          <a:xfrm>
            <a:off x="8407400" y="2984500"/>
            <a:ext cx="304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웹사이트 제작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35FE49-39C5-424E-96E7-960095A46BF5}"/>
              </a:ext>
            </a:extLst>
          </p:cNvPr>
          <p:cNvSpPr txBox="1"/>
          <p:nvPr/>
        </p:nvSpPr>
        <p:spPr>
          <a:xfrm>
            <a:off x="8407400" y="4851400"/>
            <a:ext cx="2984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아이디어 → 제작 → 수정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596DFB-1177-4400-A958-C9D3925963D8}"/>
              </a:ext>
            </a:extLst>
          </p:cNvPr>
          <p:cNvSpPr txBox="1"/>
          <p:nvPr/>
        </p:nvSpPr>
        <p:spPr>
          <a:xfrm>
            <a:off x="609600" y="5753100"/>
            <a:ext cx="10972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하나에서 시작해서</a:t>
            </a:r>
            <a:r>
              <a:rPr lang="en-US" altLang="ko-KR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 b="1">
                <a:solidFill>
                  <a:srgbClr val="142E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작은 웹서비스까지</a:t>
            </a:r>
          </a:p>
        </p:txBody>
      </p:sp>
    </p:spTree>
    <p:extLst>
      <p:ext uri="{BB962C8B-B14F-4D97-AF65-F5344CB8AC3E}">
        <p14:creationId xmlns:p14="http://schemas.microsoft.com/office/powerpoint/2010/main" val="441282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사용자 지정</PresentationFormat>
  <Paragraphs>103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Segoe UI Emoji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ajou</dc:creator>
  <cp:lastModifiedBy>ajou</cp:lastModifiedBy>
  <cp:revision>1</cp:revision>
  <dcterms:created xsi:type="dcterms:W3CDTF">2026-09-10T07:39:33Z</dcterms:created>
  <dcterms:modified xsi:type="dcterms:W3CDTF">2026-09-10T07:39:33Z</dcterms:modified>
</cp:coreProperties>
</file>